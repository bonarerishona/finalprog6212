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1" r:id="rId3"/>
    <p:sldId id="270" r:id="rId4"/>
    <p:sldId id="272" r:id="rId5"/>
    <p:sldId id="273" r:id="rId6"/>
    <p:sldId id="284" r:id="rId7"/>
    <p:sldId id="275" r:id="rId8"/>
    <p:sldId id="285" r:id="rId9"/>
    <p:sldId id="274" r:id="rId10"/>
    <p:sldId id="276" r:id="rId11"/>
    <p:sldId id="277" r:id="rId12"/>
    <p:sldId id="279" r:id="rId13"/>
    <p:sldId id="280" r:id="rId14"/>
    <p:sldId id="281" r:id="rId15"/>
    <p:sldId id="282" r:id="rId16"/>
    <p:sldId id="286" r:id="rId17"/>
    <p:sldId id="283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055A44-23EF-69F8-175D-5BE4A0B30C92}" v="437" dt="2025-11-21T19:34:17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798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76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09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67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316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3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02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889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1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7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sp.net/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62583"/>
            <a:ext cx="9144000" cy="304738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F1115"/>
                </a:solidFill>
                <a:latin typeface="Consolas"/>
              </a:rPr>
              <a:t>PROG6212 POE PART 3</a:t>
            </a:r>
            <a:br>
              <a:rPr lang="en-US" sz="2400" dirty="0">
                <a:solidFill>
                  <a:srgbClr val="0F1115"/>
                </a:solidFill>
                <a:latin typeface="Consolas"/>
              </a:rPr>
            </a:br>
            <a:r>
              <a:rPr lang="en-US" sz="2400" dirty="0">
                <a:solidFill>
                  <a:srgbClr val="0F1115"/>
                </a:solidFill>
                <a:latin typeface="Consolas"/>
              </a:rPr>
              <a:t>Student Number : ST10460357</a:t>
            </a:r>
            <a:br>
              <a:rPr lang="en-US" sz="2400" dirty="0">
                <a:solidFill>
                  <a:srgbClr val="0F1115"/>
                </a:solidFill>
                <a:latin typeface="Consolas"/>
              </a:rPr>
            </a:br>
            <a:r>
              <a:rPr lang="en-US" sz="2400" dirty="0">
                <a:solidFill>
                  <a:srgbClr val="0F1115"/>
                </a:solidFill>
                <a:latin typeface="Consolas"/>
              </a:rPr>
              <a:t>NAME: SHONA MORAA BONARERI </a:t>
            </a:r>
            <a:br>
              <a:rPr lang="en-US" sz="2400" dirty="0">
                <a:solidFill>
                  <a:srgbClr val="0F1115"/>
                </a:solidFill>
                <a:latin typeface="Consolas"/>
              </a:rPr>
            </a:br>
            <a:r>
              <a:rPr lang="en-US" sz="2400" dirty="0">
                <a:solidFill>
                  <a:srgbClr val="0F1115"/>
                </a:solidFill>
                <a:latin typeface="Consolas"/>
              </a:rPr>
              <a:t>GROUP 4</a:t>
            </a:r>
            <a:br>
              <a:rPr lang="en-US" sz="2400" dirty="0">
                <a:latin typeface="Consolas"/>
              </a:rPr>
            </a:br>
            <a:endParaRPr lang="en-US" sz="2400" dirty="0">
              <a:solidFill>
                <a:srgbClr val="0F1115"/>
              </a:solidFill>
              <a:latin typeface="Consola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rgbClr val="0F1115"/>
                </a:solidFill>
                <a:latin typeface="Consolas"/>
              </a:rPr>
              <a:t>Contract Monthly Claim System </a:t>
            </a:r>
          </a:p>
          <a:p>
            <a:r>
              <a:rPr lang="en-US" sz="2000" dirty="0">
                <a:solidFill>
                  <a:srgbClr val="0F1115"/>
                </a:solidFill>
                <a:latin typeface="Consolas"/>
              </a:rPr>
              <a:t>Workflow for lecture Claim Management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C07FE-AA77-EF8F-7BCF-12092341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4DC67-5175-D570-ECE0-10A4F12E1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 How It's Built: Technology Stack</a:t>
            </a:r>
            <a:endParaRPr lang="en-US" sz="1600" dirty="0"/>
          </a:p>
          <a:p>
            <a:r>
              <a:rPr lang="en-US" sz="1600" b="1" dirty="0">
                <a:solidFill>
                  <a:srgbClr val="0F1115"/>
                </a:solidFill>
                <a:ea typeface="+mn-lt"/>
                <a:cs typeface="+mn-lt"/>
              </a:rPr>
              <a:t>Content: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F1115"/>
                </a:solidFill>
                <a:ea typeface="+mn-lt"/>
                <a:cs typeface="+mn-lt"/>
              </a:rPr>
              <a:t>Backend:</a:t>
            </a:r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 </a:t>
            </a:r>
            <a:r>
              <a:rPr lang="en-US" sz="1600" dirty="0">
                <a:solidFill>
                  <a:srgbClr val="3964FE"/>
                </a:solidFill>
                <a:ea typeface="+mn-lt"/>
                <a:cs typeface="+mn-lt"/>
                <a:hlinkClick r:id="rId2"/>
              </a:rPr>
              <a:t>ASP.NET</a:t>
            </a:r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 Core MVC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F1115"/>
                </a:solidFill>
                <a:ea typeface="+mn-lt"/>
                <a:cs typeface="+mn-lt"/>
              </a:rPr>
              <a:t>Frontend:</a:t>
            </a:r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 Razor Pages, HTML, CSS, JavaScript, Bootstrap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F1115"/>
                </a:solidFill>
                <a:ea typeface="+mn-lt"/>
                <a:cs typeface="+mn-lt"/>
              </a:rPr>
              <a:t>Database:</a:t>
            </a:r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 Entity Framework Core (Code-First Approach)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F1115"/>
                </a:solidFill>
                <a:ea typeface="+mn-lt"/>
                <a:cs typeface="+mn-lt"/>
              </a:rPr>
              <a:t>Authentication:</a:t>
            </a:r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 </a:t>
            </a:r>
            <a:r>
              <a:rPr lang="en-US" sz="1600" dirty="0">
                <a:solidFill>
                  <a:srgbClr val="3964FE"/>
                </a:solidFill>
                <a:ea typeface="+mn-lt"/>
                <a:cs typeface="+mn-lt"/>
                <a:hlinkClick r:id="rId2"/>
              </a:rPr>
              <a:t>ASP.NET</a:t>
            </a:r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 Core Identity (Customized)</a:t>
            </a:r>
            <a:endParaRPr lang="en-US" sz="1600" dirty="0"/>
          </a:p>
          <a:p>
            <a:pPr lvl="1"/>
            <a:r>
              <a:rPr lang="en-US" sz="1600" b="1" dirty="0">
                <a:solidFill>
                  <a:srgbClr val="0F1115"/>
                </a:solidFill>
                <a:ea typeface="+mn-lt"/>
                <a:cs typeface="+mn-lt"/>
              </a:rPr>
              <a:t>Key Features:</a:t>
            </a:r>
            <a:endParaRPr lang="en-US" sz="1600" dirty="0"/>
          </a:p>
          <a:p>
            <a:pPr lvl="2"/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Session Management</a:t>
            </a:r>
            <a:endParaRPr lang="en-US" sz="1600" dirty="0"/>
          </a:p>
          <a:p>
            <a:pPr lvl="2"/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Model Validation</a:t>
            </a:r>
            <a:endParaRPr lang="en-US" sz="1600" dirty="0"/>
          </a:p>
          <a:p>
            <a:pPr lvl="2"/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File Upload Handling</a:t>
            </a:r>
            <a:endParaRPr lang="en-US" sz="1600" dirty="0"/>
          </a:p>
          <a:p>
            <a:pPr lvl="2"/>
            <a:r>
              <a:rPr lang="en-US" sz="1600" dirty="0">
                <a:solidFill>
                  <a:srgbClr val="0F1115"/>
                </a:solidFill>
                <a:ea typeface="+mn-lt"/>
                <a:cs typeface="+mn-lt"/>
              </a:rPr>
              <a:t>LINQ for Data Queries</a:t>
            </a:r>
            <a:endParaRPr lang="en-US" sz="16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DE4A-A312-E2F8-ECA8-603CA681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A2E11-25D7-4913-9BA5-8FF52214AF07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76829-585C-6C2C-796E-FED6E371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3E8D9-7DDE-0438-C38A-92E4ED950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101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4BED0-4F2B-A6FF-F2AF-DE354E0A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47031"/>
            <a:ext cx="10240903" cy="1233488"/>
          </a:xfrm>
        </p:spPr>
        <p:txBody>
          <a:bodyPr/>
          <a:lstStyle/>
          <a:p>
            <a:r>
              <a:rPr lang="en-US" dirty="0"/>
              <a:t>What THIS PRESNTATION COVERS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F17A5-F857-A891-9382-5FAD747E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6062"/>
            <a:ext cx="10250195" cy="4708885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sz="1400" dirty="0">
                <a:solidFill>
                  <a:srgbClr val="0F1115"/>
                </a:solidFill>
                <a:latin typeface="Consolas"/>
              </a:rPr>
              <a:t>PART 2: THE FOUNDATION
• Complete MVC application with database
• User authentication &amp; role-based security  
• Basic claim submission &amp; approval workflow
• File upload system &amp; validation
 PART 3: INTELLIGENT AUTOMATION  
• Automated claim validation &amp; business rules
• Smart approval workflows with auto-processing
• Professional PDF reporting &amp; analytics
• Enterprise security &amp; configuration
 LIVE DEMONSTRATION
• End-to-end automated claim processing
• Real-time status tracking
• Professional report generation
• Multi-role system interaction</a:t>
            </a:r>
            <a:endParaRPr lang="en-US" sz="1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CA9E0-6105-D8EE-F533-F96662E68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C41EE-DBF1-48F8-84D1-91C100CC0D81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E2170-CD86-9A0C-DB64-526D9590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64AC5-D826-3E08-63E7-13B1F5D27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175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DA6BAA-5938-AEC6-2189-BE8F2D3ED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HOME DASHBOARD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29B3F0B-2F60-7F2E-B5CB-E6F21ADE7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101" y="2114939"/>
            <a:ext cx="7681900" cy="3956179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CB039-89A2-3E66-1381-9B89E08F6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18CBF28-D8E3-4BB1-A804-BA05230301F1}" type="datetime1">
              <a:pPr>
                <a:spcAft>
                  <a:spcPts val="600"/>
                </a:spcAft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7914B-D6D7-ED9F-24F6-546E75AAB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2AEDC-C699-6BC8-7252-C0F1180B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6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EBC1-694F-0F18-E277-84F0B73B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SCREEN</a:t>
            </a:r>
          </a:p>
        </p:txBody>
      </p:sp>
      <p:pic>
        <p:nvPicPr>
          <p:cNvPr id="7" name="Content Placeholder 6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1CBC201B-2333-DB93-F565-A1DAB0301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8585" y="2114939"/>
            <a:ext cx="6726933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DA88-7F6A-DD83-326E-AF1FBA718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F3E4-7DED-4661-A15D-4804CCB4A184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1C6A6-AD43-7F46-DDF2-8BAB74F6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7CD87-3C4D-3C80-450F-10AFCF48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517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92E3768-E69C-9036-9F59-500F92736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/>
          <a:lstStyle/>
          <a:p>
            <a:r>
              <a:rPr lang="en-US" dirty="0"/>
              <a:t>How login function works 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E125CE3-85CF-EE78-3578-E0B706B02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0F1115"/>
                </a:solidFill>
                <a:ea typeface="+mn-lt"/>
                <a:cs typeface="+mn-lt"/>
              </a:rPr>
              <a:t>How it works: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When users access protected routes, they're automatically redirected to </a:t>
            </a:r>
            <a:r>
              <a:rPr lang="en-US" sz="1200" dirty="0">
                <a:solidFill>
                  <a:srgbClr val="0F1115"/>
                </a:solidFill>
                <a:latin typeface="Consolas"/>
              </a:rPr>
              <a:t>/Account/Login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The login form authenticates users against the </a:t>
            </a:r>
            <a:r>
              <a:rPr lang="en-US" sz="12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 Core Identity system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Upon successful login, users are redirected to their role-specific dashboard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The system uses cookie-based authentication to maintain user sessions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B2CE55F6-AC4B-5903-24D9-FB580A2D38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00078" y="1998756"/>
            <a:ext cx="5692697" cy="386893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11E21-5785-844E-BCA4-54F13A07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32AEF1-84B3-4D20-9700-CA9A37E29475}" type="datetime1">
              <a:pPr>
                <a:spcAft>
                  <a:spcPts val="600"/>
                </a:spcAft>
              </a:pPr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88B82-ACFF-83FE-8407-F4F76E72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
              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17BAF-27AF-EBC0-36F5-DA70A10A8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7DE1FC-E54A-4B87-A814-263D1E8654B2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6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595E-D268-F12D-B9CE-52CB7D58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CLAIM FOR LECTURER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E8AF80-6E53-19C2-50E6-CD19822CB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4739" y="2114939"/>
            <a:ext cx="3494625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FA09F-34EC-5E27-0C04-203B52AC7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15147-9086-425F-B10D-C0758D1D3260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7F8C-216A-7265-9C04-F1885836A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269C0-8C09-9709-9088-B556E5CA2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92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0347-1F11-2E2E-A9BF-9B973DC7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SUBMIT CLAIM WORKS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3AC80-E34C-984A-B0C8-E555E95879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0F1115"/>
                </a:solidFill>
                <a:ea typeface="+mn-lt"/>
                <a:cs typeface="+mn-lt"/>
              </a:rPr>
              <a:t>How it works: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Lecturers access the claim submission form which auto-populates their profile data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The form includes real-time auto-calculation of total amount (Hours × Rate)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Upon submission, claims are validated and stored with "Pending" status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File uploads are processed and stored securely in the uploads folder</a:t>
            </a:r>
            <a:endParaRPr lang="en-US" dirty="0"/>
          </a:p>
          <a:p>
            <a:endParaRPr lang="en-US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B9C7307-05C2-68CE-EF6A-8C678C3BAA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9997" y="1996141"/>
            <a:ext cx="5166006" cy="418082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D6981-A116-AE11-6D9A-6B263B4A8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5EC6B-6C6E-4B04-9F70-D35B6F6291C0}" type="datetime1"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77063-4196-4F60-8B52-DBA3F25C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0BC0F-8C45-7824-1F7C-53A30268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41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DFEF-1B82-B90A-D408-C5785A923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TRACKL CLAIM PAGE FOR LECTURERS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FFD92C-F51B-42AC-4913-608151126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193" y="2114939"/>
            <a:ext cx="9727716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BA2F7-579D-E65E-0278-181B729E8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6606-03F7-4531-9C52-8DC99DCE4B9F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5C40-B80F-3C1D-626C-2C2A10B6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1582C-6284-8578-3300-4B1DE31E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272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6FD2-5A3D-AD91-89F6-E7DCB943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CLAIMS UNDER COORDINATOR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C395D4-E28F-E1A1-8CAD-BC00C62AC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838591"/>
            <a:ext cx="10240903" cy="25088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87493-442F-C28A-B54A-EF3D67BE7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C68D6A-4448-4844-8196-6E5E353ED1BC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D061E-A8B6-2F20-AA17-7AC7EEFCA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721BC-E29E-290E-470C-736055FE0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11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A7E0-938B-41B4-E915-B4B661A6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CLAIMS</a:t>
            </a:r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31B7414-FD85-9B67-DD3C-1E535F2FA3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2172426"/>
            <a:ext cx="10240903" cy="38412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B8EE3-7670-0E17-F09B-88E9EA2D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9E450-2546-4F85-9038-74ADE43EFE3D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D3F35-1412-3779-39E5-0381ED93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58A64-66FF-8367-6862-2EB387C9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050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12533-5AB5-CB01-589E-B528004A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APPROVED CLAIMS BY MANAGER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F401A7-4700-186D-4F7A-0ED12B92D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1752" y="2114939"/>
            <a:ext cx="8800599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600F7-91AC-0EF0-A545-DC58104F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29EB7-FB14-4EDD-8ED7-D252ADF7DE7C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8199A-ACB6-C155-71A3-BED41603A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C105D-82C2-2F5D-7DAF-13C3C18A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32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4FE3B-AA44-27EF-92EF-23E8288CB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user for HR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10B9E8-D90F-7DD9-65F1-B3FFF4EC4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068" y="2114939"/>
            <a:ext cx="9991967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5F47A-BEDA-0012-AE07-C3B9EFC0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887C3-6460-4277-B215-8C9609734FC1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70E03-EE0A-787C-74BC-2FFFAD39A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D864F-15A5-7AB5-C123-C4BE7D25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881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C2CF-4C07-EBDD-F262-04D480BB2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user created by HR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1CE37F-30BA-8791-0907-A7DE3EDF9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5472" y="2114939"/>
            <a:ext cx="6653158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ABA59-1F15-44D9-E4BA-5DB1DCA8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A9680-72A8-41C5-92DD-523404F110E6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C4BAC-5451-3AE0-4338-6194929F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6AAF9-1C2F-F6E6-5361-A55B666F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280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17BE-FB83-7C60-83C8-19B69A9D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reports by HR</a:t>
            </a:r>
          </a:p>
        </p:txBody>
      </p:sp>
      <p:pic>
        <p:nvPicPr>
          <p:cNvPr id="7" name="Content Placeholder 6" descr="A screenshot of a report&#10;&#10;AI-generated content may be incorrect.">
            <a:extLst>
              <a:ext uri="{FF2B5EF4-FFF2-40B4-BE49-F238E27FC236}">
                <a16:creationId xmlns:a16="http://schemas.microsoft.com/office/drawing/2014/main" id="{77BFC833-9A7E-840D-3E68-D1EE5FFE24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910" y="2114939"/>
            <a:ext cx="8486283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38E98-EFA0-3D96-4E91-9474E055C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2835-04DE-451D-BCD9-8FCD5FDFC3E6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459F2-2C5E-2865-1149-DD6BB9A4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4195-3172-70AF-05E1-A47ABCA4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30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467D-9776-F35A-D9B9-0A4DBC4B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HR CREATES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50603-99FE-D3E1-5852-BF6F5A1213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0F1115"/>
                </a:solidFill>
                <a:ea typeface="+mn-lt"/>
                <a:cs typeface="+mn-lt"/>
              </a:rPr>
              <a:t>How it works: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HR administrators access the user management interface to create new accounts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The form collects user details and assigns appropriate system roles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User credentials are securely stored using </a:t>
            </a:r>
            <a:r>
              <a:rPr lang="en-US" sz="1200" dirty="0"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 Core Identity hashing</a:t>
            </a:r>
            <a:endParaRPr lang="en-US" dirty="0"/>
          </a:p>
          <a:p>
            <a:r>
              <a:rPr lang="en-US" sz="1200" dirty="0">
                <a:solidFill>
                  <a:srgbClr val="0F1115"/>
                </a:solidFill>
                <a:ea typeface="+mn-lt"/>
                <a:cs typeface="+mn-lt"/>
              </a:rPr>
              <a:t>New users receive auto-populated profiles based on their assigned role</a:t>
            </a:r>
            <a:endParaRPr lang="en-US" dirty="0"/>
          </a:p>
          <a:p>
            <a:endParaRPr lang="en-US" dirty="0"/>
          </a:p>
        </p:txBody>
      </p:sp>
      <p:pic>
        <p:nvPicPr>
          <p:cNvPr id="8" name="Content Placeholder 7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85A5049-6B45-62BC-49D3-054FAD8F8C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565734"/>
            <a:ext cx="5181600" cy="304163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93846-AB8D-7165-D7C6-F4D9B4EAB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735F-B751-493A-96FF-E9F2C0F193E3}" type="datetime1"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89A4E-40C4-2A1B-A6A8-C55D2A9EF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2D3D4-A452-DC5C-4719-01EFA0AB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8749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6547-59EF-40DD-0EF7-652D4149A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HR GENERATES REPORT THAT CAN BE PRINTED OR DOWNLOADED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2FF83C-76D2-F565-2ABE-C25588F631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3346" y="2114939"/>
            <a:ext cx="6097410" cy="39561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1C03A-5600-A3A4-0747-4C171638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3F5F4-2B55-4B3F-B808-64D6A4E6E296}" type="datetime1"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3CF6D-FBC4-35ED-5924-E11189DB9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AC54D-9267-15C0-6E4C-AF887E1A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98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C86B-8A4D-DB96-CB2C-06428183A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COMPLETE AUTOMATION SYSTEM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679D4-508A-3D7F-6CA9-C74137F1E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What My System Does:
• Lecturers submit claims with auto-calculation
• System automatically validates against business rules
• Small claims (&lt;R5000) auto-approve instantly
• Larger claims route to Coordinator → Manager
• HR/Managers generate professional PDF reports
• Complete audit trail for all actions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469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EBAF-FFC6-DB66-B798-4AA080FE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8576" y="291275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KEY FEATURES DELIVERED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7935F-F6F6-5812-663B-83CFF46D9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210" y="1715354"/>
            <a:ext cx="10240903" cy="44579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>
                <a:solidFill>
                  <a:srgbClr val="0F1115"/>
                </a:solidFill>
                <a:latin typeface="Consolas"/>
              </a:rPr>
              <a:t>1. SMART VALIDATION ENGINE
   - Automatic hours/rate validation
   - Budget limit enforcement
   - Policy-based business rules
2. AUTOMATED WORKFLOW SYSTEM
   - Role-based claim routing
   - Auto-approval for small claims
   - Status tracking with history
3. PROFESSIONAL REPORTING
   - Invoice creation
   - LINQ-powered analytics
4. ENTERPRISE SECURITY
   - Custom user roles
   - Session management
   - Secure file uploads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0701477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BA5E-B6C2-D2A7-8C53-9CC205B7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INTELLIGENT CLAIM VALIDATION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53D2B-0EAF-6F25-DEBA-C861C5770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• Checks hours worked (1-180 limit)
• Validates hourly rates against allowed values
• Enforces maximum claim amounts
• Verifies monthly budget limits
• Decides if claim can auto-approve</a:t>
            </a:r>
          </a:p>
          <a:p>
            <a:endParaRPr lang="en-US" dirty="0">
              <a:solidFill>
                <a:srgbClr val="0F1115"/>
              </a:solidFill>
              <a:latin typeface="Consolas"/>
            </a:endParaRPr>
          </a:p>
          <a:p>
            <a:r>
              <a:rPr lang="en-US" dirty="0">
                <a:solidFill>
                  <a:srgbClr val="0F1115"/>
                </a:solidFill>
                <a:latin typeface="Consolas"/>
              </a:rPr>
              <a:t>Result: Claims automatically approved or routed correctly</a:t>
            </a:r>
          </a:p>
        </p:txBody>
      </p:sp>
    </p:spTree>
    <p:extLst>
      <p:ext uri="{BB962C8B-B14F-4D97-AF65-F5344CB8AC3E}">
        <p14:creationId xmlns:p14="http://schemas.microsoft.com/office/powerpoint/2010/main" val="334259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7356-CB3B-55BF-D6BA-BB2E7975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AUTOMATED APPROVAL WORKFLOW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C33BB-2FD9-6B7E-B732-1580A61DA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How It Works:
1. Claim submitted → automatic validation
2. If valid &amp; amount &lt; R5000 → AUTO-APPROVED
3. If valid &amp; amount &gt; R5000 → Sent to Coordinator
4. Coordinator approves → Sent to Manager
5. Manager approves → Claim paid</a:t>
            </a:r>
          </a:p>
          <a:p>
            <a:endParaRPr lang="en-US" dirty="0">
              <a:solidFill>
                <a:srgbClr val="0F1115"/>
              </a:solidFill>
              <a:latin typeface="Consolas"/>
            </a:endParaRPr>
          </a:p>
          <a:p>
            <a:r>
              <a:rPr lang="en-US" dirty="0">
                <a:solidFill>
                  <a:srgbClr val="0F1115"/>
                </a:solidFill>
                <a:latin typeface="Consolas"/>
              </a:rPr>
              <a:t>Result: Claims automatically approved or routed correctly</a:t>
            </a:r>
          </a:p>
        </p:txBody>
      </p:sp>
    </p:spTree>
    <p:extLst>
      <p:ext uri="{BB962C8B-B14F-4D97-AF65-F5344CB8AC3E}">
        <p14:creationId xmlns:p14="http://schemas.microsoft.com/office/powerpoint/2010/main" val="622736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3857C-D12D-3947-65D2-344383618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5" y="235519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SECURE ROLE-BASED ACCESS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85E22-19BD-BC7E-BDDD-A72A1250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br>
              <a:rPr lang="en-US" dirty="0"/>
            </a:br>
            <a:r>
              <a:rPr lang="en-US" sz="4000" dirty="0">
                <a:solidFill>
                  <a:srgbClr val="0F1115"/>
                </a:solidFill>
                <a:latin typeface="Consolas"/>
              </a:rPr>
              <a:t>
Implemented Security:
• Custom ApplicationUser with roles
• [Authorize(Roles = "Coordinator")] attributes
• Session-based role verification
• Secure file upload validation
User Roles Working:
• Lecturer - Submit &amp; track claims
• Coordinator - Verify claims
• Manager - Final approval
• HR - Reporting &amp; analytics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45187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B3489-62EF-2135-9C46-9543980E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INTUITIVE USER EXPERIENCE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1DB58-099E-2974-869C-BB77CD9FC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Interface Features:
• Responsive Bootstrap 5 design
• Role-based navigation menus
• Real-time status indicators
• Professional color scheme
• Mobile-friendly layout
User Benefit: Easy to use for all technical levels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17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06EE-994F-D6AB-157B-81BB7B9D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ADVANCED DEVELOPMENT SKILLS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680C8-D11E-4132-6F19-3BC3280E4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Technical Skills Demonstrated:
• ASP.NET Core MVC with Entity Framework
• Service Layer Architecture with Dependency Injection
• LINQ Query Optimization
• PDF Generation with iTextSharp
• Async/Await Programming
• Bootstrap 5 Responsive Design
Code Quality: SOLID principles, clean separation, maintainable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87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C68D-8432-9B41-0E1D-0B1901B27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15" y="-498602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BUILDING THE FOUNDATION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09A6A-6776-46D6-F177-415EE45AC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039" y="655987"/>
            <a:ext cx="10240903" cy="57496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rgbClr val="0F1115"/>
                </a:solidFill>
                <a:latin typeface="Consolas"/>
              </a:rPr>
              <a:t> Built in Part 2:
• Complete ASP.NET Core MVC Application
• Entity Framework Database with Claims &amp; Users
• Role-Based Authentication System
• Basic Claim Submission &amp; Tracking
• User Management &amp; Security
Foundation Features:
Lecturer claim submission with validation</a:t>
            </a:r>
            <a:endParaRPr lang="en-US" sz="2400" dirty="0">
              <a:solidFill>
                <a:srgbClr val="000000"/>
              </a:solidFill>
              <a:latin typeface="Avenir Next LT Pro Light"/>
            </a:endParaRPr>
          </a:p>
          <a:p>
            <a:pPr marL="0" indent="0">
              <a:buNone/>
            </a:pPr>
            <a:r>
              <a:rPr lang="en-US" sz="2400">
                <a:solidFill>
                  <a:srgbClr val="0F1115"/>
                </a:solidFill>
                <a:latin typeface="Consolas"/>
              </a:rPr>
              <a:t> Coordinator claim verification</a:t>
            </a:r>
            <a:r>
              <a:rPr lang="en-US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US" sz="2400">
                <a:solidFill>
                  <a:srgbClr val="0F1115"/>
                </a:solidFill>
                <a:latin typeface="Consolas"/>
              </a:rPr>
              <a:t> Manager approval workflow</a:t>
            </a:r>
            <a:r>
              <a:rPr lang="en-US" sz="2400" dirty="0">
                <a:solidFill>
                  <a:srgbClr val="0F1115"/>
                </a:solidFill>
                <a:latin typeface="Consolas"/>
              </a:rPr>
              <a:t>
</a:t>
            </a:r>
            <a:r>
              <a:rPr lang="en-US" sz="2400">
                <a:solidFill>
                  <a:srgbClr val="0F1115"/>
                </a:solidFill>
                <a:latin typeface="Consolas"/>
              </a:rPr>
              <a:t> Basic status tracking</a:t>
            </a:r>
            <a:r>
              <a:rPr lang="en-US" sz="2400" dirty="0">
                <a:solidFill>
                  <a:srgbClr val="0F1115"/>
                </a:solidFill>
                <a:latin typeface="Consolas"/>
              </a:rPr>
              <a:t>
 User registration &amp; login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71807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B98C-C2AD-40C8-9A46-D3A9CA5F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F1115"/>
                </a:solidFill>
              </a:rPr>
              <a:t>Database Design</a:t>
            </a:r>
            <a:endParaRPr lang="en-US" sz="3200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7F901-A75B-A52B-892C-449C6674D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Core Tables Created:
• Claims - Store all claim information
• </a:t>
            </a:r>
            <a:r>
              <a:rPr lang="en-US" dirty="0" err="1">
                <a:solidFill>
                  <a:srgbClr val="0F1115"/>
                </a:solidFill>
                <a:latin typeface="Consolas"/>
              </a:rPr>
              <a:t>AspNetUsers</a:t>
            </a:r>
            <a:r>
              <a:rPr lang="en-US" dirty="0">
                <a:solidFill>
                  <a:srgbClr val="0F1115"/>
                </a:solidFill>
                <a:latin typeface="Consolas"/>
              </a:rPr>
              <a:t> - Custom user management
• </a:t>
            </a:r>
            <a:r>
              <a:rPr lang="en-US" dirty="0" err="1">
                <a:solidFill>
                  <a:srgbClr val="0F1115"/>
                </a:solidFill>
                <a:latin typeface="Consolas"/>
              </a:rPr>
              <a:t>AspNetRoles</a:t>
            </a:r>
            <a:r>
              <a:rPr lang="en-US" dirty="0">
                <a:solidFill>
                  <a:srgbClr val="0F1115"/>
                </a:solidFill>
                <a:latin typeface="Consolas"/>
              </a:rPr>
              <a:t> - Role-based security
</a:t>
            </a:r>
            <a:br>
              <a:rPr lang="en-US" sz="1000" dirty="0">
                <a:solidFill>
                  <a:srgbClr val="0F1115"/>
                </a:solidFill>
                <a:latin typeface="Consolas"/>
              </a:rPr>
            </a:br>
            <a:endParaRPr lang="en-US" sz="1000" dirty="0">
              <a:solidFill>
                <a:srgbClr val="0F1115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2429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825A-547C-7B66-1EB2-8C81EFB85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CLAIM PROCESSING WORKFLOW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3C030-00A4-FFA5-9BB4-9C7AB2970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solidFill>
                  <a:srgbClr val="0F1115"/>
                </a:solidFill>
                <a:latin typeface="Consolas"/>
              </a:rPr>
              <a:t>• Claim submission with data annotations
• Hours worked validation (1-180 hours)
• Automatic total amount calculation
• File upload for supporting documents
• Status tracking through approval stages
Basic Workflow:
Submit → Pending → Verified → Approved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89342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92A6-C085-73D5-813B-08AAC3E47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039" y="105421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UI FOUNDATION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30107-F7ED-5F8B-A59F-582D4F0E0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015" y="1455159"/>
            <a:ext cx="10240903" cy="395617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Interface Components Built:
• Responsive Bootstrap navigation
• Role-based menu system
• Claim submission forms with validation
• Status tracking views
• User dashboard layouts
Design Approach:
• Mobile-first responsive design
• Consistent color scheme
• Intuitive user workflows
• Professional institutional appearance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226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073B0-D7F7-D016-A33D-0191586B8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15" y="3202"/>
            <a:ext cx="10240903" cy="123348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0F1115"/>
                </a:solidFill>
                <a:latin typeface="Consolas"/>
              </a:rPr>
              <a:t>USER ROLE MANAGEMENT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9E331-0000-DEB4-A116-92A5F5B31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0F1115"/>
                </a:solidFill>
                <a:latin typeface="Consolas"/>
              </a:rPr>
              <a:t>Role System Working:
• Lecturers - Can submit and view their claims
• Coordinators - Can verify/reject pending claims
• Managers - Can approve verified claims
• HR - Administrative access (added in Part 3)
Access Control:
• [Authorize(Roles = "Coordinator")]
• Session-based role verification
• Action-level permission checks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3191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3222A-989B-B525-E738-15B97A04C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700" b="1" dirty="0">
                <a:solidFill>
                  <a:srgbClr val="0F1115"/>
                </a:solidFill>
              </a:rPr>
              <a:t> Complete System Journey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C11D5-BE8E-589F-3995-FF139782F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115"/>
                </a:solidFill>
                <a:latin typeface="Consolas"/>
              </a:rPr>
              <a:t>Part A Achievement:
 Working claim management system
 Secure user authentication
 Role-based access control
 Basic validation &amp; workflow
Part B Excellence:
 Intelligent automation
 Advanced analytics
 Enterprise architecture
 Premium user experience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4476436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GradientRiseVTI</vt:lpstr>
      <vt:lpstr>PROG6212 POE PART 3 Student Number : ST10460357 NAME: SHONA MORAA BONARERI  GROUP 4 </vt:lpstr>
      <vt:lpstr>SYSTEM ARCHITECTURE OVERVIEW</vt:lpstr>
      <vt:lpstr>What THIS PRESNTATION COVERS</vt:lpstr>
      <vt:lpstr>HOME DASHBOARD</vt:lpstr>
      <vt:lpstr>LOGIN SCREEN</vt:lpstr>
      <vt:lpstr>How login function works </vt:lpstr>
      <vt:lpstr>SUBMIT CLAIM FOR LECTURER</vt:lpstr>
      <vt:lpstr>HOW SUBMIT CLAIM WORKS </vt:lpstr>
      <vt:lpstr>TRACKL CLAIM PAGE FOR LECTURERS</vt:lpstr>
      <vt:lpstr>CLAIMS UNDER COORDINATOR</vt:lpstr>
      <vt:lpstr>ALL CLAIMS</vt:lpstr>
      <vt:lpstr>APPROVED CLAIMS BY MANAGER</vt:lpstr>
      <vt:lpstr>Create new user for HR</vt:lpstr>
      <vt:lpstr>All user created by HR</vt:lpstr>
      <vt:lpstr>Generate reports by HR</vt:lpstr>
      <vt:lpstr>HOW HR CREATES USERS</vt:lpstr>
      <vt:lpstr>HR GENERATES REPORT THAT CAN BE PRINTED OR DOWNLOADED</vt:lpstr>
      <vt:lpstr>COMPLETE AUTOMATION SYSTEM</vt:lpstr>
      <vt:lpstr>KEY FEATURES DELIVERED</vt:lpstr>
      <vt:lpstr>INTELLIGENT CLAIM VALIDATION</vt:lpstr>
      <vt:lpstr>AUTOMATED APPROVAL WORKFLOW</vt:lpstr>
      <vt:lpstr>SECURE ROLE-BASED ACCESS</vt:lpstr>
      <vt:lpstr>INTUITIVE USER EXPERIENCE</vt:lpstr>
      <vt:lpstr>ADVANCED DEVELOPMENT SKILLS</vt:lpstr>
      <vt:lpstr>BUILDING THE FOUNDATION</vt:lpstr>
      <vt:lpstr>Database Design </vt:lpstr>
      <vt:lpstr>CLAIM PROCESSING WORKFLOW</vt:lpstr>
      <vt:lpstr>UI FOUNDATION</vt:lpstr>
      <vt:lpstr>USER ROLE MANAGEMENT</vt:lpstr>
      <vt:lpstr> Complete System Journey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221</cp:revision>
  <dcterms:created xsi:type="dcterms:W3CDTF">2025-11-21T18:20:32Z</dcterms:created>
  <dcterms:modified xsi:type="dcterms:W3CDTF">2025-11-21T19:35:03Z</dcterms:modified>
</cp:coreProperties>
</file>